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72" r:id="rId3"/>
    <p:sldId id="273" r:id="rId4"/>
    <p:sldId id="280" r:id="rId5"/>
    <p:sldId id="274" r:id="rId6"/>
    <p:sldId id="275" r:id="rId7"/>
    <p:sldId id="276" r:id="rId8"/>
    <p:sldId id="277" r:id="rId9"/>
    <p:sldId id="278" r:id="rId10"/>
    <p:sldId id="283" r:id="rId11"/>
    <p:sldId id="271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A115"/>
    <a:srgbClr val="EBB631"/>
    <a:srgbClr val="D4A373"/>
    <a:srgbClr val="B07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345" y="39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131C5-BDE0-4ACE-9C34-EFE9D196AAB1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AEF54-EE0A-4642-9A71-1ED390250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6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6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827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1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E41F-FA04-A0B6-7158-BD7F44397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C5E74-D884-4DDF-9C4F-2F4E13F49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13839-B577-5C7F-3D50-42E4B3B7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8308B-DA57-562D-58C9-B7FC3C1E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6C63A-7571-2686-8FFD-1DD500A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98B6-2721-F190-3D95-1E9C3979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716E-44E9-FDAE-93B8-1C7E8E3E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BF7F3-94DF-39C5-00A4-E928C389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4AF0-2944-F6E4-4647-B5C388F8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435E-2870-394C-4181-001F65D8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2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D68B-9936-871E-54D6-648B8985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4DA4-2C7F-1D71-5679-3E86E62B1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A3A99-8F27-365A-28A5-B596F013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FA690-CF11-FDE5-04FB-9F76A89F3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014DF-6310-9C24-B4FC-853855A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9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23E4-D32F-409F-F619-D54DFBA8B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9441-7108-C00F-45BE-DA210D915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F7C5B-F14B-7FC6-D3CB-7F08440BE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FD602-6B9F-39D8-64DB-F9F117DE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D95A4-8D5E-3225-C5CC-1BD5A484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C174-5A03-818F-70AD-A228B56B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40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FF9EC-1776-E647-FCFA-90087A12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FDE33-A62B-0766-0853-9CEAFACE5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C7B1D-B56C-EA96-807D-FE9282276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0D82CB-B1D5-A2E4-BAE4-C379F3991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475626-74B7-2545-44CE-56EB57BF5C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9700D-562D-086A-4324-0758F5D1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64903-B13D-3E66-1301-5A0FC78E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A73F-D80A-93D2-AB5E-5E7AFA20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7102-30A5-A8B5-6514-5FCDD801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FBA108-C7EA-63E1-D9B1-4B1BEEC51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B2BC-EABE-C4E5-5120-1488E280F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844F1-1DD1-FBB5-342C-DCD54620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8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F93AD2-3466-0425-06C9-70BEAEF57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5A16F6-8101-09D0-88D7-F394B9EF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C6770-EF69-957B-DC34-0224C700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95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D9F-94EE-6F1C-7B4D-E2B106F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9CC4D-46A6-1081-612C-DAA8B912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0CF65-6EA4-C586-CA3A-9C16BE9AC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99D6B-FB5F-1787-D028-402E179C1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4A3EC-2664-EEF3-751B-FEB9FD3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CD595-C22D-3D9F-55D2-247A3BF1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1F199-E994-FFCC-CE7F-6414794BD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8F48A2-731A-0338-15DE-8954CA557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95F00-DD59-69FE-5C4F-77993A1C1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073FC-D666-2994-9C7A-30CFB4583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937F8-73DF-FDF8-76DF-27EB13E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D1C78-7611-64C0-7BCC-026FCA90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F0419-9B69-8587-755D-056E63E1A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38ED0-1601-7BDB-B264-D2AFE8477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9534-A476-CE69-30C2-D60156035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AB11C-E2C4-DD80-8311-B4994977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1DF36-63B9-9D12-547E-383036ED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1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BC154F-8B6D-6791-5FCD-99B4F7C8A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3288D-62F7-F062-E374-5B40C7B0F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BEC-8FDC-6466-A61A-38D5BB33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643EF-E092-5EB7-186B-901AA3CC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00CF8-68FF-A10E-1CED-B6AA247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9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8F5DD-9C75-245A-1EF4-341C6744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8CA46-EA33-609F-731C-3A38BE5BB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F752-6825-94D6-2D08-CC8600234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E7B66-BBF3-4C82-9864-576602C32F66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70C4-610B-4B2C-AD55-CF2F2CF55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52E7F-A36F-E127-BB3E-2331FA5D0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8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DA5090-1A8B-4F8A-4CFF-4617A6C8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873" y="0"/>
            <a:ext cx="1235212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28CE9D-64D2-9CCD-E889-DD13316AE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Karla Medium" pitchFamily="2" charset="0"/>
              </a:rPr>
              <a:t>Weather briefing Kenya</a:t>
            </a:r>
          </a:p>
        </p:txBody>
      </p:sp>
      <p:sp>
        <p:nvSpPr>
          <p:cNvPr id="8" name="date_text">
            <a:extLst>
              <a:ext uri="{FF2B5EF4-FFF2-40B4-BE49-F238E27FC236}">
                <a16:creationId xmlns:a16="http://schemas.microsoft.com/office/drawing/2014/main" id="{00A1A5F0-F0C0-2143-E336-A19EA03E34D6}"/>
              </a:ext>
            </a:extLst>
          </p:cNvPr>
          <p:cNvSpPr txBox="1"/>
          <p:nvPr/>
        </p:nvSpPr>
        <p:spPr>
          <a:xfrm>
            <a:off x="2961182" y="4269384"/>
            <a:ext cx="62696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August 1st,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281BB-0392-6594-75C1-CE765159F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3" y="6106024"/>
            <a:ext cx="1464903" cy="6781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F2D536-DAA0-16CF-33F2-022DD3F24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16" y="6106024"/>
            <a:ext cx="1197035" cy="6781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CB34BD-54A3-D9D9-6473-DA92DADD8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2137" y="6105994"/>
            <a:ext cx="1273542" cy="678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7DBD21-EFE6-70C7-C7BB-C2D64EFF4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744969" y="6105414"/>
            <a:ext cx="1307168" cy="67819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6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3A94-34CC-6A3B-EC20-780F1EF9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raw_text">
            <a:extLst>
              <a:ext uri="{FF2B5EF4-FFF2-40B4-BE49-F238E27FC236}">
                <a16:creationId xmlns:a16="http://schemas.microsoft.com/office/drawing/2014/main" id="{E825A2F5-1EA6-260B-C774-2FE0B0E9F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79" y="1246551"/>
            <a:ext cx="4192038" cy="4974367"/>
          </a:xfrm>
        </p:spPr>
        <p:txBody>
          <a:bodyPr>
            <a:noAutofit/>
          </a:bodyPr>
          <a:lstStyle/>
          <a:p>
            <a:endParaRPr lang="en-GB" sz="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3E8742-9A41-7D6F-197D-711435DC1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</a:t>
            </a:r>
          </a:p>
        </p:txBody>
      </p:sp>
      <p:pic>
        <p:nvPicPr>
          <p:cNvPr id="7" name="ECMWF_raw_plot" descr="weekly_prec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17" y="1156610"/>
            <a:ext cx="7844931" cy="522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19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559E5-AD46-51A9-7730-78DD8233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FS_raw_text">
            <a:extLst>
              <a:ext uri="{FF2B5EF4-FFF2-40B4-BE49-F238E27FC236}">
                <a16:creationId xmlns:a16="http://schemas.microsoft.com/office/drawing/2014/main" id="{496CB2D6-00E9-96C8-99B7-66D516211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161737"/>
            <a:ext cx="4363316" cy="5478905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8C63281-5F40-A5C8-3F12-92F4CDC7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GEFS</a:t>
            </a:r>
          </a:p>
        </p:txBody>
      </p:sp>
      <p:pic>
        <p:nvPicPr>
          <p:cNvPr id="7" name="GEFS_raw_plot" descr="gefs_weekly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208" y="1004341"/>
            <a:ext cx="7586186" cy="50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9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4221-A756-ED30-020C-C387A1EC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dwn_text">
            <a:extLst>
              <a:ext uri="{FF2B5EF4-FFF2-40B4-BE49-F238E27FC236}">
                <a16:creationId xmlns:a16="http://schemas.microsoft.com/office/drawing/2014/main" id="{26C9942B-4856-E531-A48A-6FEC9487A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246551"/>
            <a:ext cx="4225690" cy="4891921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37D905-0CFA-EAB2-ED10-718177CF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 downscaled</a:t>
            </a:r>
          </a:p>
        </p:txBody>
      </p:sp>
      <p:pic>
        <p:nvPicPr>
          <p:cNvPr id="7" name="ECMWF_dwn_plot" descr="weekly_precip_down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97" y="1116152"/>
            <a:ext cx="7823903" cy="541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9FE9-6B56-9D97-9F53-142583E5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med_raw_text">
            <a:extLst>
              <a:ext uri="{FF2B5EF4-FFF2-40B4-BE49-F238E27FC236}">
                <a16:creationId xmlns:a16="http://schemas.microsoft.com/office/drawing/2014/main" id="{FFF52A10-2A1E-E8AB-E6EE-9596888F3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246551"/>
            <a:ext cx="4519534" cy="5234078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3B0968-D425-894B-4E7D-01E2931D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Weekly precipitation ECMWF medium range</a:t>
            </a:r>
            <a:endParaRPr lang="en-US" dirty="0"/>
          </a:p>
        </p:txBody>
      </p:sp>
      <p:pic>
        <p:nvPicPr>
          <p:cNvPr id="7" name="ECMWFmed_raw_plot" descr="weekly_medium_range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198" y="1053709"/>
            <a:ext cx="7512516" cy="523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9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33BD-72FA-10D1-A0A8-308ED2A8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tercile_text">
            <a:extLst>
              <a:ext uri="{FF2B5EF4-FFF2-40B4-BE49-F238E27FC236}">
                <a16:creationId xmlns:a16="http://schemas.microsoft.com/office/drawing/2014/main" id="{901499A9-A0FD-6E27-D968-87577FAE9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261395" cy="5190535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6620E-A75F-FA5C-95E9-336F1327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Likelihood of being above/below normal ECWMF</a:t>
            </a:r>
            <a:endParaRPr lang="en-US" dirty="0"/>
          </a:p>
        </p:txBody>
      </p:sp>
      <p:pic>
        <p:nvPicPr>
          <p:cNvPr id="7" name="ECMWF_tercile_plot" descr="chance_of_above_or_be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52" y="1187434"/>
            <a:ext cx="7580648" cy="503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59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8567B-DBEF-37CC-3AF5-F171C8C1F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efi_text">
            <a:extLst>
              <a:ext uri="{FF2B5EF4-FFF2-40B4-BE49-F238E27FC236}">
                <a16:creationId xmlns:a16="http://schemas.microsoft.com/office/drawing/2014/main" id="{FF62EFE8-6915-A143-10A1-53FB127B9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146629"/>
            <a:ext cx="4349829" cy="552994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8E0D24-ECFF-A6E2-CDFE-C9C0A2E73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Extreme forecast index ECWMF</a:t>
            </a:r>
            <a:endParaRPr lang="en-US" dirty="0"/>
          </a:p>
        </p:txBody>
      </p:sp>
      <p:pic>
        <p:nvPicPr>
          <p:cNvPr id="7" name="ECMWF_efi_plot" descr="efi_sot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235" y="1146629"/>
            <a:ext cx="7480765" cy="531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89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E66D-B457-4B56-B4EC-F7E29C45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_text">
            <a:extLst>
              <a:ext uri="{FF2B5EF4-FFF2-40B4-BE49-F238E27FC236}">
                <a16:creationId xmlns:a16="http://schemas.microsoft.com/office/drawing/2014/main" id="{191EDA28-5715-7A6D-E37D-C614524B9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167051" cy="517365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F27808-C5A5-6FF8-1CDF-3D7EACD34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Chance of being above median ECMWF</a:t>
            </a:r>
            <a:endParaRPr lang="en-US" dirty="0"/>
          </a:p>
        </p:txBody>
      </p:sp>
      <p:pic>
        <p:nvPicPr>
          <p:cNvPr id="7" name="ECMWF_p50_plot" descr="50th_percentile_ex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61" y="1186590"/>
            <a:ext cx="7712439" cy="51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90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0B8E-D28C-EBF2-1260-16661E95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anom_text">
            <a:extLst>
              <a:ext uri="{FF2B5EF4-FFF2-40B4-BE49-F238E27FC236}">
                <a16:creationId xmlns:a16="http://schemas.microsoft.com/office/drawing/2014/main" id="{69E40CC7-7212-B8A4-F210-F6CD27562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246551"/>
            <a:ext cx="4067894" cy="5459049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96A21B-5642-34E1-8AD3-A36C5BB3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>
            <a:normAutofit/>
          </a:bodyPr>
          <a:lstStyle/>
          <a:p>
            <a:r>
              <a:rPr lang="en-GB" dirty="0"/>
              <a:t>Anomaly of ensemble mean from model median</a:t>
            </a:r>
            <a:endParaRPr lang="en-US" dirty="0"/>
          </a:p>
        </p:txBody>
      </p:sp>
      <p:pic>
        <p:nvPicPr>
          <p:cNvPr id="7" name="ECMWF_p50anom_plot" descr="anomaly_from_50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870" y="1190529"/>
            <a:ext cx="7748592" cy="5157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60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8C2EA-A478-F7D1-70E3-1D8BE012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45" y="2666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 dirty="0"/>
              <a:t>Forecast summary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2ED61167-07F6-26EE-FEE0-8032C720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01" r="45896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0E3CF7C-BCBE-EB3E-F0B7-C55BBEF46E57}"/>
              </a:ext>
            </a:extLst>
          </p:cNvPr>
          <p:cNvGrpSpPr/>
          <p:nvPr/>
        </p:nvGrpSpPr>
        <p:grpSpPr>
          <a:xfrm>
            <a:off x="7837173" y="6157034"/>
            <a:ext cx="3918933" cy="510236"/>
            <a:chOff x="7315201" y="6257813"/>
            <a:chExt cx="3918933" cy="510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D365C3-6EC2-B53B-9721-2825BE6AB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1" y="6258423"/>
              <a:ext cx="1100792" cy="5096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286236-883E-E331-16F6-C027ACA32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7553" y="6257813"/>
              <a:ext cx="899504" cy="50962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29BDB-6988-D259-E4D6-33B7FE959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77139" y="6257813"/>
              <a:ext cx="956995" cy="5096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1DCF2C-7F3F-C1E9-B144-30FBF8278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9286032" y="6257813"/>
              <a:ext cx="993287" cy="5096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</p:grpSp>
      <p:sp>
        <p:nvSpPr>
          <p:cNvPr id="11" name="sum_text">
            <a:extLst>
              <a:ext uri="{FF2B5EF4-FFF2-40B4-BE49-F238E27FC236}">
                <a16:creationId xmlns:a16="http://schemas.microsoft.com/office/drawing/2014/main" id="{43B7978D-7760-0760-D21C-E3DB2E85B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13" y="1416570"/>
            <a:ext cx="6408365" cy="51747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8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C87-79A5-7219-47E0-2E453300E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94" y="69034"/>
            <a:ext cx="11867606" cy="1933938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Equatorial Waves : Analyses and Forecasts</a:t>
            </a:r>
            <a:br>
              <a:rPr lang="en-GB" b="1" dirty="0"/>
            </a:br>
            <a:endParaRPr lang="en-US" b="1" dirty="0"/>
          </a:p>
        </p:txBody>
      </p:sp>
      <p:pic>
        <p:nvPicPr>
          <p:cNvPr id="7" name="wave_map">
            <a:extLst>
              <a:ext uri="{FF2B5EF4-FFF2-40B4-BE49-F238E27FC236}">
                <a16:creationId xmlns:a16="http://schemas.microsoft.com/office/drawing/2014/main" id="{FB7B0EBA-1630-8B87-C92D-6CE44734F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6286"/>
            <a:ext cx="7421902" cy="5551714"/>
          </a:xfrm>
          <a:prstGeom prst="rect">
            <a:avLst/>
          </a:prstGeom>
        </p:spPr>
      </p:pic>
      <p:pic>
        <p:nvPicPr>
          <p:cNvPr id="8" name="hov_meuller">
            <a:extLst>
              <a:ext uri="{FF2B5EF4-FFF2-40B4-BE49-F238E27FC236}">
                <a16:creationId xmlns:a16="http://schemas.microsoft.com/office/drawing/2014/main" id="{C8767FBA-2317-F4E1-679A-B3012AD24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1902" y="1399626"/>
            <a:ext cx="4785350" cy="536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16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1690</TotalTime>
  <Words>59</Words>
  <Application>Microsoft Office PowerPoint</Application>
  <PresentationFormat>Widescreen</PresentationFormat>
  <Paragraphs>15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Karla Medium</vt:lpstr>
      <vt:lpstr>Office Theme</vt:lpstr>
      <vt:lpstr>Weather briefing Kenya</vt:lpstr>
      <vt:lpstr>Weekly precipitation ECMWF</vt:lpstr>
      <vt:lpstr>Weekly precipitation GEFS</vt:lpstr>
      <vt:lpstr>Weekly precipitation ECMWF downscaled</vt:lpstr>
      <vt:lpstr>Weekly precipitation ECMWF medium range</vt:lpstr>
      <vt:lpstr>Likelihood of being above/below normal ECWMF</vt:lpstr>
      <vt:lpstr>Extreme forecast index ECWMF</vt:lpstr>
      <vt:lpstr>Chance of being above median ECMWF</vt:lpstr>
      <vt:lpstr>Anomaly of ensemble mean from model median</vt:lpstr>
      <vt:lpstr>Forecast summary</vt:lpstr>
      <vt:lpstr>Equatorial Waves : Analyses and Forecasts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Jong, Alexander Gerco</dc:creator>
  <cp:lastModifiedBy>Jong, Alexander Gerco</cp:lastModifiedBy>
  <cp:revision>19</cp:revision>
  <dcterms:created xsi:type="dcterms:W3CDTF">2026-08-03T08:32:50Z</dcterms:created>
  <dcterms:modified xsi:type="dcterms:W3CDTF">2026-08-06T06:36:39Z</dcterms:modified>
</cp:coreProperties>
</file>