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2" r:id="rId3"/>
    <p:sldId id="273" r:id="rId4"/>
    <p:sldId id="280" r:id="rId5"/>
    <p:sldId id="274" r:id="rId6"/>
    <p:sldId id="275" r:id="rId7"/>
    <p:sldId id="276" r:id="rId8"/>
    <p:sldId id="277" r:id="rId9"/>
    <p:sldId id="278" r:id="rId10"/>
    <p:sldId id="283" r:id="rId11"/>
    <p:sldId id="271" r:id="rId12"/>
    <p:sldId id="285" r:id="rId13"/>
    <p:sldId id="290" r:id="rId14"/>
    <p:sldId id="286" r:id="rId15"/>
    <p:sldId id="288" r:id="rId16"/>
    <p:sldId id="289" r:id="rId17"/>
    <p:sldId id="291" r:id="rId18"/>
    <p:sldId id="296" r:id="rId19"/>
    <p:sldId id="294" r:id="rId20"/>
    <p:sldId id="293" r:id="rId21"/>
    <p:sldId id="295" r:id="rId2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A115"/>
    <a:srgbClr val="EBB631"/>
    <a:srgbClr val="D4A373"/>
    <a:srgbClr val="B07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19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131C5-BDE0-4ACE-9C34-EFE9D196AAB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AEF54-EE0A-4642-9A71-1ED390250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36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AEF54-EE0A-4642-9A71-1ED3902505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56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AEF54-EE0A-4642-9A71-1ED3902505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27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AEF54-EE0A-4642-9A71-1ED3902505C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18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AEF54-EE0A-4642-9A71-1ED3902505C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81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C606F-46D9-B721-9A75-F76587B4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51DB7-9A27-B74C-5131-CC9B042E3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3A0BB-B962-8D1A-BB21-FA71A379E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7BC84-D6AD-68B5-7BCB-0FE2194CC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AEF54-EE0A-4642-9A71-1ED3902505C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13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CA2E8-3E6A-54F4-8E1C-6967AAA78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DAA21-5F45-01F0-B49A-6DCD50CA1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22A00-040B-1B63-16B4-06CFFF52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01628-8140-C546-7262-B8CC25B59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AEF54-EE0A-4642-9A71-1ED3902505C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238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8B7E1-D08C-5996-FE62-FD2922E1E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BE406-A890-474A-FE9B-0B6F1ED3A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7E514-A4AF-4F9F-012A-5AFFD54B5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D69E4-435B-317C-35FE-7E75A74B5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AEF54-EE0A-4642-9A71-1ED3902505C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66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1912-F305-4500-3D0F-4390B8B3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BC1A3-39A2-5352-B9C7-68EC86155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204B9-3402-4FC5-6CB8-BAED2F641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501BB-BEEF-6A16-39FA-10D3EE2CF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AEF54-EE0A-4642-9A71-1ED3902505C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10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E41F-FA04-A0B6-7158-BD7F44397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C5E74-D884-4DDF-9C4F-2F4E13F49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13839-B577-5C7F-3D50-42E4B3B7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8308B-DA57-562D-58C9-B7FC3C1E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6C63A-7571-2686-8FFD-1DD500A1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7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98B6-2721-F190-3D95-1E9C3979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A716E-44E9-FDAE-93B8-1C7E8E3ED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BF7F3-94DF-39C5-00A4-E928C389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4AF0-2944-F6E4-4647-B5C388F8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5435E-2870-394C-4181-001F65D8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2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D68B-9936-871E-54D6-648B8985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14DA4-2C7F-1D71-5679-3E86E62B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A3A99-8F27-365A-28A5-B596F013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FA690-CF11-FDE5-04FB-9F76A89F3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014DF-6310-9C24-B4FC-853855AE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9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23E4-D32F-409F-F619-D54DFBA8B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F9441-7108-C00F-45BE-DA210D915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F7C5B-F14B-7FC6-D3CB-7F08440BE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FD602-6B9F-39D8-64DB-F9F117DEF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D95A4-8D5E-3225-C5CC-1BD5A484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6C174-5A03-818F-70AD-A228B56B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40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FF9EC-1776-E647-FCFA-90087A12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FDE33-A62B-0766-0853-9CEAFACE5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C7B1D-B56C-EA96-807D-FE9282276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D82CB-B1D5-A2E4-BAE4-C379F3991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75626-74B7-2545-44CE-56EB57BF5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D9700D-562D-086A-4324-0758F5D18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64903-B13D-3E66-1301-5A0FC78EC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0A73F-D80A-93D2-AB5E-5E7AFA20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61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7102-30A5-A8B5-6514-5FCDD801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FBA108-C7EA-63E1-D9B1-4B1BEEC5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BB2BC-EABE-C4E5-5120-1488E280F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844F1-1DD1-FBB5-342C-DCD54620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8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F93AD2-3466-0425-06C9-70BEAEF57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A16F6-8101-09D0-88D7-F394B9EF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C6770-EF69-957B-DC34-0224C700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9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50D9F-94EE-6F1C-7B4D-E2B106F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9CC4D-46A6-1081-612C-DAA8B9122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0CF65-6EA4-C586-CA3A-9C16BE9AC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99D6B-FB5F-1787-D028-402E179C1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4A3EC-2664-EEF3-751B-FEB9FD38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CD595-C22D-3D9F-55D2-247A3BF1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1F199-E994-FFCC-CE7F-6414794B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F48A2-731A-0338-15DE-8954CA557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95F00-DD59-69FE-5C4F-77993A1C1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073FC-D666-2994-9C7A-30CFB4583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937F8-73DF-FDF8-76DF-27EB13E4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D1C78-7611-64C0-7BCC-026FCA902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89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0419-9B69-8587-755D-056E63E1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38ED0-1601-7BDB-B264-D2AFE8477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A9534-A476-CE69-30C2-D6015603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AB11C-E2C4-DD80-8311-B4994977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1DF36-63B9-9D12-547E-383036E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21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C154F-8B6D-6791-5FCD-99B4F7C8A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3288D-62F7-F062-E374-5B40C7B0F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FDBEC-8FDC-6466-A61A-38D5BB33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643EF-E092-5EB7-186B-901AA3CC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00CF8-68FF-A10E-1CED-B6AA247D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9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48F5DD-9C75-245A-1EF4-341C6744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8CA46-EA33-609F-731C-3A38BE5BB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5F752-6825-94D6-2D08-CC8600234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E7B66-BBF3-4C82-9864-576602C32F6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D70C4-610B-4B2C-AD55-CF2F2CF55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52E7F-A36F-E127-BB3E-2331FA5D0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0F310-B2AD-4CFF-8481-5FE9076B9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8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DA5090-1A8B-4F8A-4CFF-4617A6C81E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873" y="0"/>
            <a:ext cx="123521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28CE9D-64D2-9CCD-E889-DD13316AE2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Karla Medium" pitchFamily="2" charset="0"/>
              </a:rPr>
              <a:t>Weather briefing Kenya</a:t>
            </a:r>
          </a:p>
        </p:txBody>
      </p:sp>
      <p:sp>
        <p:nvSpPr>
          <p:cNvPr id="8" name="date_text">
            <a:extLst>
              <a:ext uri="{FF2B5EF4-FFF2-40B4-BE49-F238E27FC236}">
                <a16:creationId xmlns:a16="http://schemas.microsoft.com/office/drawing/2014/main" id="{00A1A5F0-F0C0-2143-E336-A19EA03E34D6}"/>
              </a:ext>
            </a:extLst>
          </p:cNvPr>
          <p:cNvSpPr txBox="1"/>
          <p:nvPr/>
        </p:nvSpPr>
        <p:spPr>
          <a:xfrm>
            <a:off x="2961182" y="4269384"/>
            <a:ext cx="62696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August 1st, 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0281BB-0392-6594-75C1-CE765159F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3" y="6106024"/>
            <a:ext cx="1464903" cy="678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F2D536-DAA0-16CF-33F2-022DD3F24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0316" y="6106024"/>
            <a:ext cx="1197035" cy="6781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CB34BD-54A3-D9D9-6473-DA92DADD8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2137" y="6105994"/>
            <a:ext cx="1273542" cy="678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7DBD21-EFE6-70C7-C7BB-C2D64EFF49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744969" y="6105414"/>
            <a:ext cx="1307168" cy="67819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6290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3A94-34CC-6A3B-EC20-780F1EF98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CMWF_raw_text">
            <a:extLst>
              <a:ext uri="{FF2B5EF4-FFF2-40B4-BE49-F238E27FC236}">
                <a16:creationId xmlns:a16="http://schemas.microsoft.com/office/drawing/2014/main" id="{E825A2F5-1EA6-260B-C774-2FE0B0E9F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79" y="1246551"/>
            <a:ext cx="4192038" cy="4974367"/>
          </a:xfrm>
        </p:spPr>
        <p:txBody>
          <a:bodyPr>
            <a:noAutofit/>
          </a:bodyPr>
          <a:lstStyle/>
          <a:p>
            <a:endParaRPr lang="en-GB" sz="8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3E8742-9A41-7D6F-197D-711435DC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0"/>
            <a:ext cx="11634652" cy="1246551"/>
          </a:xfrm>
        </p:spPr>
        <p:txBody>
          <a:bodyPr/>
          <a:lstStyle/>
          <a:p>
            <a:r>
              <a:rPr lang="en-US" dirty="0"/>
              <a:t>Weekly precipitation ECMWF</a:t>
            </a:r>
          </a:p>
        </p:txBody>
      </p:sp>
      <p:pic>
        <p:nvPicPr>
          <p:cNvPr id="7" name="ECMWF_raw_plot" descr="weekly_prec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117" y="1156610"/>
            <a:ext cx="7844931" cy="522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1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559E5-AD46-51A9-7730-78DD8233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EFS_raw_text">
            <a:extLst>
              <a:ext uri="{FF2B5EF4-FFF2-40B4-BE49-F238E27FC236}">
                <a16:creationId xmlns:a16="http://schemas.microsoft.com/office/drawing/2014/main" id="{496CB2D6-00E9-96C8-99B7-66D516211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92" y="1161737"/>
            <a:ext cx="4363316" cy="5478905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8C63281-5F40-A5C8-3F12-92F4CDC7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0"/>
            <a:ext cx="11634652" cy="1246551"/>
          </a:xfrm>
        </p:spPr>
        <p:txBody>
          <a:bodyPr/>
          <a:lstStyle/>
          <a:p>
            <a:r>
              <a:rPr lang="en-US" dirty="0"/>
              <a:t>Weekly precipitation GEFS</a:t>
            </a:r>
          </a:p>
        </p:txBody>
      </p:sp>
      <p:pic>
        <p:nvPicPr>
          <p:cNvPr id="7" name="GEFS_raw_plot" descr="gefs_weekly_prec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208" y="1004341"/>
            <a:ext cx="7586186" cy="505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2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64221-A756-ED30-020C-C387A1EC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CMWF_dwn_text">
            <a:extLst>
              <a:ext uri="{FF2B5EF4-FFF2-40B4-BE49-F238E27FC236}">
                <a16:creationId xmlns:a16="http://schemas.microsoft.com/office/drawing/2014/main" id="{26C9942B-4856-E531-A48A-6FEC9487A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07" y="1246551"/>
            <a:ext cx="4225690" cy="4891921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37D905-0CFA-EAB2-ED10-718177CF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0"/>
            <a:ext cx="11634652" cy="1246551"/>
          </a:xfrm>
        </p:spPr>
        <p:txBody>
          <a:bodyPr/>
          <a:lstStyle/>
          <a:p>
            <a:r>
              <a:rPr lang="en-US" dirty="0"/>
              <a:t>Weekly precipitation ECMWF downscaled</a:t>
            </a:r>
          </a:p>
        </p:txBody>
      </p:sp>
      <p:pic>
        <p:nvPicPr>
          <p:cNvPr id="7" name="ECMWF_dwn_plot" descr="weekly_precip_down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097" y="1116152"/>
            <a:ext cx="7823903" cy="54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FE9-6B56-9D97-9F53-142583E5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CMWFmed_raw_text">
            <a:extLst>
              <a:ext uri="{FF2B5EF4-FFF2-40B4-BE49-F238E27FC236}">
                <a16:creationId xmlns:a16="http://schemas.microsoft.com/office/drawing/2014/main" id="{FFF52A10-2A1E-E8AB-E6EE-9596888F3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92" y="1246551"/>
            <a:ext cx="4519534" cy="5234078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3B0968-D425-894B-4E7D-01E2931D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0"/>
            <a:ext cx="11634652" cy="1246551"/>
          </a:xfrm>
        </p:spPr>
        <p:txBody>
          <a:bodyPr/>
          <a:lstStyle/>
          <a:p>
            <a:r>
              <a:rPr lang="en-GB" dirty="0"/>
              <a:t>Weekly precipitation ECMWF medium range</a:t>
            </a:r>
            <a:endParaRPr lang="en-US" dirty="0"/>
          </a:p>
        </p:txBody>
      </p:sp>
      <p:pic>
        <p:nvPicPr>
          <p:cNvPr id="7" name="ECMWFmed_raw_plot" descr="weekly_medium_range_prec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198" y="1053709"/>
            <a:ext cx="7512516" cy="523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9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33BD-72FA-10D1-A0A8-308ED2A8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CMWF_tercile_text">
            <a:extLst>
              <a:ext uri="{FF2B5EF4-FFF2-40B4-BE49-F238E27FC236}">
                <a16:creationId xmlns:a16="http://schemas.microsoft.com/office/drawing/2014/main" id="{901499A9-A0FD-6E27-D968-87577FAE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48" y="1246551"/>
            <a:ext cx="4261395" cy="5190535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46620E-A75F-FA5C-95E9-336F13276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0"/>
            <a:ext cx="11634652" cy="1246551"/>
          </a:xfrm>
        </p:spPr>
        <p:txBody>
          <a:bodyPr/>
          <a:lstStyle/>
          <a:p>
            <a:r>
              <a:rPr lang="en-GB" dirty="0"/>
              <a:t>Likelihood of being above/below normal ECWMF</a:t>
            </a:r>
            <a:endParaRPr lang="en-US" dirty="0"/>
          </a:p>
        </p:txBody>
      </p:sp>
      <p:pic>
        <p:nvPicPr>
          <p:cNvPr id="7" name="ECMWF_tercile_plot" descr="chance_of_above_or_be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52" y="1187434"/>
            <a:ext cx="7580648" cy="50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59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8567B-DBEF-37CC-3AF5-F171C8C1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CMWF_efi_text">
            <a:extLst>
              <a:ext uri="{FF2B5EF4-FFF2-40B4-BE49-F238E27FC236}">
                <a16:creationId xmlns:a16="http://schemas.microsoft.com/office/drawing/2014/main" id="{FF62EFE8-6915-A143-10A1-53FB127B9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49" y="1146629"/>
            <a:ext cx="4349829" cy="5529942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8E0D24-ECFF-A6E2-CDFE-C9C0A2E73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0"/>
            <a:ext cx="11634652" cy="1246551"/>
          </a:xfrm>
        </p:spPr>
        <p:txBody>
          <a:bodyPr/>
          <a:lstStyle/>
          <a:p>
            <a:r>
              <a:rPr lang="en-GB" dirty="0"/>
              <a:t>Extreme forecast index ECWMF</a:t>
            </a:r>
            <a:endParaRPr lang="en-US" dirty="0"/>
          </a:p>
        </p:txBody>
      </p:sp>
      <p:pic>
        <p:nvPicPr>
          <p:cNvPr id="7" name="ECMWF_efi_plot" descr="efi_sot_prec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35" y="1146629"/>
            <a:ext cx="7480765" cy="53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8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AE66D-B457-4B56-B4EC-F7E29C45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CMWF_p50_text">
            <a:extLst>
              <a:ext uri="{FF2B5EF4-FFF2-40B4-BE49-F238E27FC236}">
                <a16:creationId xmlns:a16="http://schemas.microsoft.com/office/drawing/2014/main" id="{191EDA28-5715-7A6D-E37D-C614524B9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48" y="1246551"/>
            <a:ext cx="4167051" cy="5173652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BF27808-C5A5-6FF8-1CDF-3D7EACD34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0"/>
            <a:ext cx="11634652" cy="1246551"/>
          </a:xfrm>
        </p:spPr>
        <p:txBody>
          <a:bodyPr/>
          <a:lstStyle/>
          <a:p>
            <a:r>
              <a:rPr lang="en-GB" dirty="0"/>
              <a:t>Chance of being above median ECMWF</a:t>
            </a:r>
            <a:endParaRPr lang="en-US" dirty="0"/>
          </a:p>
        </p:txBody>
      </p:sp>
      <p:pic>
        <p:nvPicPr>
          <p:cNvPr id="7" name="ECMWF_p50_plot" descr="50th_percentile_exe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561" y="1186590"/>
            <a:ext cx="7712439" cy="51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90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0B8E-D28C-EBF2-1260-16661E95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CMWF_p50anom_text">
            <a:extLst>
              <a:ext uri="{FF2B5EF4-FFF2-40B4-BE49-F238E27FC236}">
                <a16:creationId xmlns:a16="http://schemas.microsoft.com/office/drawing/2014/main" id="{69E40CC7-7212-B8A4-F210-F6CD27562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49" y="1246551"/>
            <a:ext cx="4067894" cy="5459049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96A21B-5642-34E1-8AD3-A36C5BB3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0"/>
            <a:ext cx="11634652" cy="1246551"/>
          </a:xfrm>
        </p:spPr>
        <p:txBody>
          <a:bodyPr>
            <a:normAutofit/>
          </a:bodyPr>
          <a:lstStyle/>
          <a:p>
            <a:r>
              <a:rPr lang="en-GB" dirty="0"/>
              <a:t>Anomaly of ensemble mean from model median</a:t>
            </a:r>
            <a:endParaRPr lang="en-US" dirty="0"/>
          </a:p>
        </p:txBody>
      </p:sp>
      <p:pic>
        <p:nvPicPr>
          <p:cNvPr id="7" name="ECMWF_p50anom_plot" descr="anomaly_from_50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870" y="1190529"/>
            <a:ext cx="7748592" cy="515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60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8C2EA-A478-F7D1-70E3-1D8BE012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45" y="2666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 dirty="0"/>
              <a:t>Forecast summary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2ED61167-07F6-26EE-FEE0-8032C7206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01" r="45896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0E3CF7C-BCBE-EB3E-F0B7-C55BBEF46E57}"/>
              </a:ext>
            </a:extLst>
          </p:cNvPr>
          <p:cNvGrpSpPr/>
          <p:nvPr/>
        </p:nvGrpSpPr>
        <p:grpSpPr>
          <a:xfrm>
            <a:off x="7837173" y="6157034"/>
            <a:ext cx="3918933" cy="510236"/>
            <a:chOff x="7315201" y="6257813"/>
            <a:chExt cx="3918933" cy="51023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D365C3-6EC2-B53B-9721-2825BE6AB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1" y="6258423"/>
              <a:ext cx="1100792" cy="5096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6286236-883E-E331-16F6-C027ACA32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7553" y="6257813"/>
              <a:ext cx="899504" cy="50962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FE29BDB-6988-D259-E4D6-33B7FE959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77139" y="6257813"/>
              <a:ext cx="956995" cy="50962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81DCF2C-7F3F-C1E9-B144-30FBF8278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/>
          </p:blipFill>
          <p:spPr>
            <a:xfrm>
              <a:off x="9286032" y="6257813"/>
              <a:ext cx="993287" cy="5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</p:grpSp>
      <p:sp>
        <p:nvSpPr>
          <p:cNvPr id="11" name="sum_text">
            <a:extLst>
              <a:ext uri="{FF2B5EF4-FFF2-40B4-BE49-F238E27FC236}">
                <a16:creationId xmlns:a16="http://schemas.microsoft.com/office/drawing/2014/main" id="{43B7978D-7760-0760-D21C-E3DB2E85B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13" y="1416570"/>
            <a:ext cx="6408365" cy="517473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86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6C87-79A5-7219-47E0-2E453300E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94" y="69034"/>
            <a:ext cx="11867606" cy="1933938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Equatorial Waves : Analyses and Forecasts</a:t>
            </a:r>
            <a:br>
              <a:rPr lang="en-GB" b="1" dirty="0"/>
            </a:br>
            <a:endParaRPr lang="en-US" b="1" dirty="0"/>
          </a:p>
        </p:txBody>
      </p:sp>
      <p:pic>
        <p:nvPicPr>
          <p:cNvPr id="7" name="wave_map">
            <a:extLst>
              <a:ext uri="{FF2B5EF4-FFF2-40B4-BE49-F238E27FC236}">
                <a16:creationId xmlns:a16="http://schemas.microsoft.com/office/drawing/2014/main" id="{FB7B0EBA-1630-8B87-C92D-6CE44734F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6286"/>
            <a:ext cx="7421902" cy="5551714"/>
          </a:xfrm>
          <a:prstGeom prst="rect">
            <a:avLst/>
          </a:prstGeom>
        </p:spPr>
      </p:pic>
      <p:pic>
        <p:nvPicPr>
          <p:cNvPr id="8" name="hov_meuller">
            <a:extLst>
              <a:ext uri="{FF2B5EF4-FFF2-40B4-BE49-F238E27FC236}">
                <a16:creationId xmlns:a16="http://schemas.microsoft.com/office/drawing/2014/main" id="{C8767FBA-2317-F4E1-679A-B3012AD24E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1902" y="1399626"/>
            <a:ext cx="4785350" cy="536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16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812E-7F7B-49BE-4E83-C439F8D10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C2822-DD12-3582-EF84-A49CFCCE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024A5-CFCB-D886-71A3-8D0FBEC58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O_state">
            <a:extLst>
              <a:ext uri="{FF2B5EF4-FFF2-40B4-BE49-F238E27FC236}">
                <a16:creationId xmlns:a16="http://schemas.microsoft.com/office/drawing/2014/main" id="{42FA392C-8929-423C-30D3-2664821BB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75" y="225460"/>
            <a:ext cx="10306050" cy="640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40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3E470-6BEA-C510-1896-A46EFE7F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O_ivt">
            <a:extLst>
              <a:ext uri="{FF2B5EF4-FFF2-40B4-BE49-F238E27FC236}">
                <a16:creationId xmlns:a16="http://schemas.microsoft.com/office/drawing/2014/main" id="{C22A648D-808B-E6D1-5478-E5969F9A4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75" y="608433"/>
            <a:ext cx="10306050" cy="564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0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3A43-42E0-DC6F-A361-329DAC3EF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EFB0-2E5C-312C-C1A3-CBA3F8F9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5A60D-0482-03B8-5E7C-766721D71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O_TCWV_anom">
            <a:extLst>
              <a:ext uri="{FF2B5EF4-FFF2-40B4-BE49-F238E27FC236}">
                <a16:creationId xmlns:a16="http://schemas.microsoft.com/office/drawing/2014/main" id="{5CF4202E-D93C-558A-C574-6D1DF0A53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75" y="605184"/>
            <a:ext cx="10306050" cy="564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88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8CF0F-EF7A-F27E-A304-AE7D539F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2F91B-72C9-0E70-CB47-813F5E63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371AE-F737-A01C-AFA2-C0AC857B1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O_precip_anom">
            <a:extLst>
              <a:ext uri="{FF2B5EF4-FFF2-40B4-BE49-F238E27FC236}">
                <a16:creationId xmlns:a16="http://schemas.microsoft.com/office/drawing/2014/main" id="{D0869CAD-224E-20F2-2078-F7877FF66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75" y="628746"/>
            <a:ext cx="10306050" cy="560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44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6C86-99EE-4CB6-79AA-9850C68C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E8A4-870D-F6F2-B036-72B4A8D9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E1EAC-F488-D229-7A80-BFDA8489F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O_precip_anom_std">
            <a:extLst>
              <a:ext uri="{FF2B5EF4-FFF2-40B4-BE49-F238E27FC236}">
                <a16:creationId xmlns:a16="http://schemas.microsoft.com/office/drawing/2014/main" id="{3F3D48C8-EE71-682D-628D-F67FDF4BE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1448" y="628746"/>
            <a:ext cx="10287503" cy="5600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9AAFCC-0330-F54B-0B04-79748F8215BA}"/>
              </a:ext>
            </a:extLst>
          </p:cNvPr>
          <p:cNvSpPr txBox="1"/>
          <p:nvPr/>
        </p:nvSpPr>
        <p:spPr>
          <a:xfrm>
            <a:off x="3048625" y="3244334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dirty="0"/>
              <a:t> </a:t>
            </a:r>
            <a:r>
              <a:rPr lang="" b="0" dirty="0"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909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068B-28E6-AA87-C7A4-E6BA7ACE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393B08-B338-3227-D420-F5FB6CAE5719}"/>
              </a:ext>
            </a:extLst>
          </p:cNvPr>
          <p:cNvSpPr txBox="1"/>
          <p:nvPr/>
        </p:nvSpPr>
        <p:spPr>
          <a:xfrm>
            <a:off x="3048625" y="3221849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b="0" dirty="0">
                <a:effectLst/>
              </a:rPr>
              <a:t>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098A2B-6694-5825-45F0-4DDAE1F75AE0}"/>
              </a:ext>
            </a:extLst>
          </p:cNvPr>
          <p:cNvSpPr txBox="1"/>
          <p:nvPr/>
        </p:nvSpPr>
        <p:spPr>
          <a:xfrm>
            <a:off x="244374" y="112427"/>
            <a:ext cx="3172292" cy="648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" b="0" dirty="0">
                <a:effectLst/>
              </a:rPr>
            </a:br>
            <a:endParaRPr lang="" b="0" dirty="0">
              <a:effectLst/>
            </a:endParaRPr>
          </a:p>
          <a:p>
            <a:pPr rtl="0">
              <a:spcBef>
                <a:spcPts val="100"/>
              </a:spcBef>
              <a:spcAft>
                <a:spcPts val="200"/>
              </a:spcAft>
              <a:buNone/>
            </a:pPr>
            <a:r>
              <a:rPr lang="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Maps show the forecasted mean </a:t>
            </a:r>
            <a:r>
              <a:rPr lang="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onset date of the rainy season</a:t>
            </a:r>
            <a:r>
              <a:rPr lang="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: the first 3-day wet spell with &gt;20mm total rainfall that isn't followed by a dry spell of 7+ days within the next 21 days.</a:t>
            </a:r>
            <a:endParaRPr lang="" b="0" dirty="0">
              <a:effectLst/>
            </a:endParaRPr>
          </a:p>
          <a:p>
            <a:pPr marL="342900" lvl="0" indent="-34290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Color</a:t>
            </a:r>
            <a:r>
              <a:rPr lang="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= ensemble-mean onset date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% labels / contours</a:t>
            </a:r>
            <a:r>
              <a:rPr lang="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= share of ensemble members that found an onset at all within the forecast window </a:t>
            </a:r>
          </a:p>
          <a:p>
            <a:pPr marL="342900" lvl="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" sz="1800" b="0" i="1" u="none" strike="noStrike" dirty="0">
                <a:solidFill>
                  <a:schemeClr val="tx1"/>
                </a:solidFill>
                <a:effectLst/>
                <a:latin typeface="+mn-lt"/>
              </a:rPr>
              <a:t>Note: GEFS's shorter window means it structurally can't show onsets as late as S2S</a:t>
            </a:r>
            <a:r>
              <a:rPr lang="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 </a:t>
            </a:r>
          </a:p>
          <a:p>
            <a:pPr>
              <a:buNone/>
            </a:pPr>
            <a:br>
              <a:rPr lang="" b="0" dirty="0">
                <a:effectLst/>
              </a:rPr>
            </a:br>
            <a:endParaRPr lang="en-US" dirty="0"/>
          </a:p>
        </p:txBody>
      </p:sp>
      <p:pic>
        <p:nvPicPr>
          <p:cNvPr id="11" name="Onset_ECMWF">
            <a:extLst>
              <a:ext uri="{FF2B5EF4-FFF2-40B4-BE49-F238E27FC236}">
                <a16:creationId xmlns:a16="http://schemas.microsoft.com/office/drawing/2014/main" id="{ECD47A97-11D3-219B-B9DD-F8DF8D6A1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066" y="1115981"/>
            <a:ext cx="4600575" cy="4518585"/>
          </a:xfrm>
          <a:prstGeom prst="rect">
            <a:avLst/>
          </a:prstGeom>
        </p:spPr>
      </p:pic>
      <p:pic>
        <p:nvPicPr>
          <p:cNvPr id="12" name="Onset_GEFS">
            <a:extLst>
              <a:ext uri="{FF2B5EF4-FFF2-40B4-BE49-F238E27FC236}">
                <a16:creationId xmlns:a16="http://schemas.microsoft.com/office/drawing/2014/main" id="{D1E13F38-CFBD-5F6F-8920-119580ADA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641" y="1161738"/>
            <a:ext cx="4302367" cy="442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72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8D1BF-8D07-2698-4F32-19F33C46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667024-B65C-45F0-7F66-F2B0147A72ED}"/>
              </a:ext>
            </a:extLst>
          </p:cNvPr>
          <p:cNvSpPr txBox="1"/>
          <p:nvPr/>
        </p:nvSpPr>
        <p:spPr>
          <a:xfrm>
            <a:off x="3048625" y="3221849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b="0" dirty="0">
                <a:effectLst/>
              </a:rPr>
              <a:t>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81D7C-6214-FCE2-7F51-B573E809CB24}"/>
              </a:ext>
            </a:extLst>
          </p:cNvPr>
          <p:cNvSpPr txBox="1"/>
          <p:nvPr/>
        </p:nvSpPr>
        <p:spPr>
          <a:xfrm>
            <a:off x="244374" y="112427"/>
            <a:ext cx="3172292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" b="0" dirty="0">
                <a:effectLst/>
              </a:rPr>
            </a:br>
            <a:endParaRPr lang="" b="0" dirty="0">
              <a:effectLst/>
            </a:endParaRPr>
          </a:p>
          <a:p>
            <a:pPr rtl="0">
              <a:spcBef>
                <a:spcPts val="100"/>
              </a:spcBef>
              <a:spcAft>
                <a:spcPts val="200"/>
              </a:spcAft>
              <a:buNone/>
            </a:pP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Maps show the forecasted mean </a:t>
            </a:r>
            <a:r>
              <a:rPr lang="en-GB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start of growing season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: the first day whose following 10 days accumulate at least 20mm total rainfall, followed by the next 20 days after that accumulating more than 20mm.</a:t>
            </a:r>
            <a:b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</a:br>
            <a:endParaRPr lang="en-GB" sz="18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pPr marL="285750" indent="-285750" rtl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Color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= ensemble-mean start of growing season </a:t>
            </a:r>
          </a:p>
          <a:p>
            <a:pPr marL="285750" indent="-285750" rtl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% labels / contours = share of ensemble members that found a start at all within the forecast window</a:t>
            </a:r>
          </a:p>
          <a:p>
            <a:pPr marL="285750" indent="-285750" rtl="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800" b="0" i="1" u="none" strike="noStrike" dirty="0">
                <a:solidFill>
                  <a:schemeClr val="tx1"/>
                </a:solidFill>
                <a:effectLst/>
                <a:latin typeface="+mn-lt"/>
              </a:rPr>
              <a:t>Note: GEFS's shorter window means it structurally can't show onsets as late as S2S</a:t>
            </a:r>
          </a:p>
          <a:p>
            <a:pPr>
              <a:buNone/>
            </a:pPr>
            <a:br>
              <a:rPr lang="" b="0" dirty="0">
                <a:effectLst/>
              </a:rPr>
            </a:br>
            <a:endParaRPr lang="en-US" dirty="0"/>
          </a:p>
        </p:txBody>
      </p:sp>
      <p:pic>
        <p:nvPicPr>
          <p:cNvPr id="11" name="Onset_ECMWF_accum">
            <a:extLst>
              <a:ext uri="{FF2B5EF4-FFF2-40B4-BE49-F238E27FC236}">
                <a16:creationId xmlns:a16="http://schemas.microsoft.com/office/drawing/2014/main" id="{E2605704-5B60-EA01-9DCD-179D5AD89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7066" y="1183159"/>
            <a:ext cx="4600575" cy="4491679"/>
          </a:xfrm>
          <a:prstGeom prst="rect">
            <a:avLst/>
          </a:prstGeom>
        </p:spPr>
      </p:pic>
      <p:pic>
        <p:nvPicPr>
          <p:cNvPr id="12" name="Onset_GEFS_accum">
            <a:extLst>
              <a:ext uri="{FF2B5EF4-FFF2-40B4-BE49-F238E27FC236}">
                <a16:creationId xmlns:a16="http://schemas.microsoft.com/office/drawing/2014/main" id="{68097C6F-654B-E324-3F13-82AA6F42D0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47641" y="1163086"/>
            <a:ext cx="4302367" cy="451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46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6FB1-1973-E204-273C-947C754A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7FB7-EDE9-9E8D-EFD5-C2BFDA1DA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Consecutive Wet (&gt;1mm) Days Probability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EA7B1-5642-6A6B-D527-3C5D0943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edian_wet">
            <a:extLst>
              <a:ext uri="{FF2B5EF4-FFF2-40B4-BE49-F238E27FC236}">
                <a16:creationId xmlns:a16="http://schemas.microsoft.com/office/drawing/2014/main" id="{B0FD3093-3801-11F6-76DC-B06DB5172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41" y="1606550"/>
            <a:ext cx="3762375" cy="4886325"/>
          </a:xfrm>
          <a:prstGeom prst="rect">
            <a:avLst/>
          </a:prstGeom>
        </p:spPr>
      </p:pic>
      <p:pic>
        <p:nvPicPr>
          <p:cNvPr id="5" name="wet5">
            <a:extLst>
              <a:ext uri="{FF2B5EF4-FFF2-40B4-BE49-F238E27FC236}">
                <a16:creationId xmlns:a16="http://schemas.microsoft.com/office/drawing/2014/main" id="{335C716F-841D-7F28-76BD-06A46212E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1606549"/>
            <a:ext cx="3810000" cy="4886325"/>
          </a:xfrm>
          <a:prstGeom prst="rect">
            <a:avLst/>
          </a:prstGeom>
        </p:spPr>
      </p:pic>
      <p:pic>
        <p:nvPicPr>
          <p:cNvPr id="6" name="wet7">
            <a:extLst>
              <a:ext uri="{FF2B5EF4-FFF2-40B4-BE49-F238E27FC236}">
                <a16:creationId xmlns:a16="http://schemas.microsoft.com/office/drawing/2014/main" id="{EF5BD3B6-BFCF-0C88-E418-1D5D31890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984" y="1606548"/>
            <a:ext cx="38100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51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FFB13-C596-ACE9-0FEB-D21E61E4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590F-C36D-4DB7-913C-C9612290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Consecutive Dry (&lt;1mm) Days Probability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F0F2F-2F11-5653-D9FC-D6FB68F60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edian_dry">
            <a:extLst>
              <a:ext uri="{FF2B5EF4-FFF2-40B4-BE49-F238E27FC236}">
                <a16:creationId xmlns:a16="http://schemas.microsoft.com/office/drawing/2014/main" id="{2913F0F9-72C2-9D58-90DB-E6D64A7B7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41" y="1606549"/>
            <a:ext cx="3762375" cy="4886325"/>
          </a:xfrm>
          <a:prstGeom prst="rect">
            <a:avLst/>
          </a:prstGeom>
        </p:spPr>
      </p:pic>
      <p:pic>
        <p:nvPicPr>
          <p:cNvPr id="5" name="dry5">
            <a:extLst>
              <a:ext uri="{FF2B5EF4-FFF2-40B4-BE49-F238E27FC236}">
                <a16:creationId xmlns:a16="http://schemas.microsoft.com/office/drawing/2014/main" id="{E359E2A8-5BBF-F2BC-0497-96294AB49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1606549"/>
            <a:ext cx="3810000" cy="4886325"/>
          </a:xfrm>
          <a:prstGeom prst="rect">
            <a:avLst/>
          </a:prstGeom>
        </p:spPr>
      </p:pic>
      <p:pic>
        <p:nvPicPr>
          <p:cNvPr id="6" name="dry7">
            <a:extLst>
              <a:ext uri="{FF2B5EF4-FFF2-40B4-BE49-F238E27FC236}">
                <a16:creationId xmlns:a16="http://schemas.microsoft.com/office/drawing/2014/main" id="{C9C18A90-93C9-B1F0-9DD3-BEBE5248C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984" y="1606550"/>
            <a:ext cx="38100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94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5A16-7589-660C-F329-6306F0E0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3780-647F-00D6-F2A3-DD06141D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" dirty="0"/>
              <a:t>Probability of exceeding 20 mm per week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7A309-D634-2606-6089-44E3EBC53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exceed20mm">
            <a:extLst>
              <a:ext uri="{FF2B5EF4-FFF2-40B4-BE49-F238E27FC236}">
                <a16:creationId xmlns:a16="http://schemas.microsoft.com/office/drawing/2014/main" id="{F5D7AD68-2B4F-2B67-8D5D-657228813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241" y="1524312"/>
            <a:ext cx="82732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0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2078</TotalTime>
  <Words>249</Words>
  <Application>Microsoft Office PowerPoint</Application>
  <PresentationFormat>Widescreen</PresentationFormat>
  <Paragraphs>38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Karla Medium</vt:lpstr>
      <vt:lpstr>Office Theme</vt:lpstr>
      <vt:lpstr>Weather briefing Kenya</vt:lpstr>
      <vt:lpstr>Weekly precipitation ECMWF</vt:lpstr>
      <vt:lpstr>Weekly precipitation GEFS</vt:lpstr>
      <vt:lpstr>Weekly precipitation ECMWF downscaled</vt:lpstr>
      <vt:lpstr>Weekly precipitation ECMWF medium range</vt:lpstr>
      <vt:lpstr>Likelihood of being above/below normal ECWMF</vt:lpstr>
      <vt:lpstr>Extreme forecast index ECWMF</vt:lpstr>
      <vt:lpstr>Chance of being above median ECMWF</vt:lpstr>
      <vt:lpstr>Anomaly of ensemble mean from model median</vt:lpstr>
      <vt:lpstr>Forecast summary</vt:lpstr>
      <vt:lpstr>Equatorial Waves : Analyses and Forecasts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Consecutive Wet (&gt;1mm) Days Probability</vt:lpstr>
      <vt:lpstr>Consecutive Dry (&lt;1mm) Days Probability</vt:lpstr>
      <vt:lpstr>Probability of exceeding 20 mm per week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Jong, Alexander Gerco</dc:creator>
  <cp:lastModifiedBy>Jong, Alexander Gerco</cp:lastModifiedBy>
  <cp:revision>23</cp:revision>
  <dcterms:created xsi:type="dcterms:W3CDTF">2026-08-03T08:32:50Z</dcterms:created>
  <dcterms:modified xsi:type="dcterms:W3CDTF">2026-09-04T12:49:40Z</dcterms:modified>
</cp:coreProperties>
</file>